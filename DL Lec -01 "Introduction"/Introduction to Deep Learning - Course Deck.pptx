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Deep Learning</c:v>
                </c:pt>
              </c:strCache>
            </c:strRef>
          </c:tx>
          <c:spPr>
            <a:solidFill>
              <a:srgbClr val="00E5C7"/>
            </a:solidFill>
            <a:ln w="38100" cap="flat">
              <a:solidFill>
                <a:srgbClr val="00E5C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E5C7"/>
              </a:solidFill>
              <a:ln w="9525" cap="flat">
                <a:solidFill>
                  <a:srgbClr val="00E5C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</c:v>
                </c:pt>
                <c:pt idx="1">
                  <c:v>1.2</c:v>
                </c:pt>
                <c:pt idx="2">
                  <c:v>2.3</c:v>
                </c:pt>
                <c:pt idx="3">
                  <c:v>3.8</c:v>
                </c:pt>
                <c:pt idx="4">
                  <c:v>5.6</c:v>
                </c:pt>
                <c:pt idx="5">
                  <c:v>7.8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Traditional ML</c:v>
                </c:pt>
              </c:strCache>
            </c:strRef>
          </c:tx>
          <c:spPr>
            <a:solidFill>
              <a:srgbClr val="8A93B8"/>
            </a:solidFill>
            <a:ln w="38100" cap="flat">
              <a:solidFill>
                <a:srgbClr val="8A93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A93B8"/>
              </a:solidFill>
              <a:ln w="9525" cap="flat">
                <a:solidFill>
                  <a:srgbClr val="8A9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</c:v>
                </c:pt>
                <c:pt idx="1">
                  <c:v>1.8</c:v>
                </c:pt>
                <c:pt idx="2">
                  <c:v>2.6</c:v>
                </c:pt>
                <c:pt idx="3">
                  <c:v>3</c:v>
                </c:pt>
                <c:pt idx="4">
                  <c:v>3.2</c:v>
                </c:pt>
                <c:pt idx="5">
                  <c:v>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B3C">
            <a:alpha val="0"/>
          </a:srgbClr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E8ECF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41B3C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4.png"/><Relationship Id="rId5" Type="http://schemas.openxmlformats.org/officeDocument/2006/relationships/image" Target="../media/image-5-4.png"/><Relationship Id="rId6" Type="http://schemas.openxmlformats.org/officeDocument/2006/relationships/image" Target="../media/image-5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54864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04504" y="54864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60536" y="54864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16568" y="54864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372600" y="54864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28632" y="54864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884664" y="54864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140696" y="54864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396728" y="54864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652760" y="54864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348472" y="80467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604504" y="80467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860536" y="80467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116568" y="80467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372600" y="80467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628632" y="80467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884664" y="80467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140696" y="80467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396728" y="80467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652760" y="80467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348472" y="106070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04504" y="106070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860536" y="106070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116568" y="106070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372600" y="106070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628632" y="106070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884664" y="106070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140696" y="106070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396728" y="106070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652760" y="106070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348472" y="1316736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604504" y="1316736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860536" y="1316736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116568" y="1316736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372600" y="1316736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628632" y="1316736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884664" y="1316736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140696" y="1316736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396728" y="1316736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652760" y="1316736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348472" y="1572768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604504" y="1572768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860536" y="1572768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116568" y="1572768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372600" y="1572768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628632" y="1572768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884664" y="1572768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140696" y="1572768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396728" y="1572768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652760" y="1572768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348472" y="182880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604504" y="182880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860536" y="182880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116568" y="182880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372600" y="182880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628632" y="182880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884664" y="182880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140696" y="182880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396728" y="182880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0652760" y="182880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348472" y="208483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604504" y="208483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860536" y="208483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116568" y="208483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372600" y="208483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28632" y="208483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884664" y="208483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0140696" y="208483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0396728" y="208483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0652760" y="208483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348472" y="234086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604504" y="234086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860536" y="234086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116568" y="234086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372600" y="234086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9628632" y="234086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9884664" y="234086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10140696" y="234086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10396728" y="234086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10652760" y="234086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-274320" y="484632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-18288" y="484632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237744" y="484632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493776" y="484632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749808" y="484632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1005840" y="484632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1261872" y="484632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1517904" y="484632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-274320" y="510235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-18288" y="510235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237744" y="510235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493776" y="510235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749808" y="510235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1005840" y="510235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1261872" y="510235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1517904" y="510235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-274320" y="535838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-18288" y="535838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237744" y="535838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493776" y="535838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749808" y="535838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1005840" y="535838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1261872" y="535838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1517904" y="535838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-274320" y="5614416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-18288" y="5614416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237744" y="5614416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493776" y="5614416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749808" y="5614416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1005840" y="5614416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1261872" y="5614416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1517904" y="5614416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-274320" y="5870448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-18288" y="5870448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237744" y="5870448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493776" y="5870448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749808" y="5870448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1005840" y="5870448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1261872" y="5870448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1517904" y="5870448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-274320" y="612648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-18288" y="612648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>
            <a:off x="237744" y="612648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493776" y="612648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749808" y="612648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1005840" y="612648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1261872" y="612648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1517904" y="612648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640080" y="1234440"/>
            <a:ext cx="914400" cy="914400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31" name="Image 0" descr="icons/brain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53312"/>
            <a:ext cx="676656" cy="676656"/>
          </a:xfrm>
          <a:prstGeom prst="rect">
            <a:avLst/>
          </a:prstGeom>
        </p:spPr>
      </p:pic>
      <p:sp>
        <p:nvSpPr>
          <p:cNvPr id="132" name="Text 129"/>
          <p:cNvSpPr txBox="1"/>
          <p:nvPr/>
        </p:nvSpPr>
        <p:spPr>
          <a:xfrm>
            <a:off x="64008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COURSE · MODULE 01</a:t>
            </a:r>
            <a:endParaRPr lang="en-US" sz="1300" dirty="0"/>
          </a:p>
        </p:txBody>
      </p:sp>
      <p:sp>
        <p:nvSpPr>
          <p:cNvPr id="133" name="Text 130"/>
          <p:cNvSpPr txBox="1"/>
          <p:nvPr/>
        </p:nvSpPr>
        <p:spPr>
          <a:xfrm>
            <a:off x="594360" y="274320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5200" dirty="0"/>
          </a:p>
        </p:txBody>
      </p:sp>
      <p:sp>
        <p:nvSpPr>
          <p:cNvPr id="134" name="Text 131"/>
          <p:cNvSpPr txBox="1"/>
          <p:nvPr/>
        </p:nvSpPr>
        <p:spPr>
          <a:xfrm>
            <a:off x="640080" y="4709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machines learn to see, listen, and understand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45720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" y="45720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7744" y="45720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5720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45720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45720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61872" y="45720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-274320" y="71323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-18288" y="71323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37744" y="71323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" y="71323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71323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61872" y="71323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-274320" y="96926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-18288" y="96926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37744" y="96926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93776" y="96926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96926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05840" y="96926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261872" y="96926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-274320" y="1225296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-18288" y="1225296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744" y="1225296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93776" y="1225296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49808" y="1225296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05840" y="1225296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261872" y="1225296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-274320" y="1481328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-18288" y="1481328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37744" y="1481328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93776" y="1481328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49808" y="1481328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05840" y="1481328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261872" y="1481328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-274320" y="173736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-18288" y="173736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37744" y="173736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93776" y="173736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9808" y="173736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05840" y="173736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261872" y="173736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280160" y="1554480"/>
            <a:ext cx="9628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8A9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time you unlock your phone with your face, ask a question out loud, or scroll a feed that feels made for you —</a:t>
            </a:r>
            <a:endParaRPr lang="en-US" sz="2600" dirty="0"/>
          </a:p>
        </p:txBody>
      </p:sp>
      <p:sp>
        <p:nvSpPr>
          <p:cNvPr id="45" name="Text 43"/>
          <p:cNvSpPr txBox="1"/>
          <p:nvPr/>
        </p:nvSpPr>
        <p:spPr>
          <a:xfrm>
            <a:off x="1280160" y="278892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is working behind the scenes.</a:t>
            </a:r>
            <a:endParaRPr lang="en-US" sz="3000" dirty="0"/>
          </a:p>
        </p:txBody>
      </p:sp>
      <p:sp>
        <p:nvSpPr>
          <p:cNvPr id="46" name="Shape 44"/>
          <p:cNvSpPr/>
          <p:nvPr/>
        </p:nvSpPr>
        <p:spPr>
          <a:xfrm>
            <a:off x="1088136" y="4709160"/>
            <a:ext cx="2331720" cy="502920"/>
          </a:xfrm>
          <a:prstGeom prst="roundRect">
            <a:avLst>
              <a:gd name="adj" fmla="val 50909"/>
            </a:avLst>
          </a:prstGeom>
          <a:solidFill>
            <a:srgbClr val="141B3C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88136" y="4709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3648456" y="4709160"/>
            <a:ext cx="2331720" cy="502920"/>
          </a:xfrm>
          <a:prstGeom prst="roundRect">
            <a:avLst>
              <a:gd name="adj" fmla="val 50909"/>
            </a:avLst>
          </a:prstGeom>
          <a:solidFill>
            <a:srgbClr val="141B3C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648456" y="4709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6208776" y="4709160"/>
            <a:ext cx="2331720" cy="502920"/>
          </a:xfrm>
          <a:prstGeom prst="roundRect">
            <a:avLst>
              <a:gd name="adj" fmla="val 50909"/>
            </a:avLst>
          </a:prstGeom>
          <a:solidFill>
            <a:srgbClr val="141B3C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208776" y="4709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8769096" y="4709160"/>
            <a:ext cx="2331720" cy="502920"/>
          </a:xfrm>
          <a:prstGeom prst="roundRect">
            <a:avLst>
              <a:gd name="adj" fmla="val 50909"/>
            </a:avLst>
          </a:prstGeom>
          <a:solidFill>
            <a:srgbClr val="141B3C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769096" y="4709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10908792" y="6355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Deep Learning?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subfield of Machine Learning where neural networks learn directly from raw data — layer by layer, pattern by pattern.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658368" cy="658368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6" name="Image 0" descr="icons/database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668" y="2920228"/>
            <a:ext cx="487192" cy="4871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8072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Learns from Data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31546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patterns and representations directly from examples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977640"/>
            <a:ext cx="658368" cy="658368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0" name="Image 1" descr="icons/layers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68" y="4063228"/>
            <a:ext cx="487192" cy="4871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39502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Neural Networks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508760" y="42976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many simple layers to build increasingly complex understanding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5120640"/>
            <a:ext cx="658368" cy="658368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4" name="Image 2" descr="icons/sliders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68" y="5206228"/>
            <a:ext cx="487192" cy="4871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8760" y="50932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Manual Work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1508760" y="54406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need for hand-crafted, manually engineered features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452360" y="265176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77240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FLOW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772400" y="3337560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182253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955280" y="333756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9052560" y="39959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7772400" y="4251960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182253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955280" y="425196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Simple Features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9052560" y="4910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7772400" y="5166360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182253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955280" y="516636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Combinations</a:t>
            </a:r>
            <a:endParaRPr lang="en-US" sz="1250" dirty="0"/>
          </a:p>
        </p:txBody>
      </p:sp>
      <p:sp>
        <p:nvSpPr>
          <p:cNvPr id="27" name="Text 22"/>
          <p:cNvSpPr txBox="1"/>
          <p:nvPr/>
        </p:nvSpPr>
        <p:spPr>
          <a:xfrm>
            <a:off x="9052560" y="58247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7772400" y="6080760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7955280" y="608076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N: Complex Concepts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10908792" y="6355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IDEA COMES FROM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Neuron to Network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 take loose inspiration from how neurons connect and fire in the brain.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8096" y="2880360"/>
            <a:ext cx="3246120" cy="2651760"/>
          </a:xfrm>
          <a:prstGeom prst="roundRect">
            <a:avLst>
              <a:gd name="adj" fmla="val 3448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07108" y="3246120"/>
            <a:ext cx="768096" cy="768096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7" name="Image 0" descr="icons/share2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6960" y="3345972"/>
            <a:ext cx="568391" cy="56839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5256" y="4251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Biological Neuron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96696" y="47091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Nerve cells receive and pass along signals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014216" y="3931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471416" y="2880360"/>
            <a:ext cx="3246120" cy="2651760"/>
          </a:xfrm>
          <a:prstGeom prst="roundRect">
            <a:avLst>
              <a:gd name="adj" fmla="val 3448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10428" y="3246120"/>
            <a:ext cx="768096" cy="768096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3" name="Image 1" descr="icons/cpu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80" y="3345972"/>
            <a:ext cx="568391" cy="56839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08576" y="4251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Neuron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700016" y="47091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 function that weighs inputs and fires an output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7717536" y="3931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8174736" y="2880360"/>
            <a:ext cx="3246120" cy="2651760"/>
          </a:xfrm>
          <a:prstGeom prst="roundRect">
            <a:avLst>
              <a:gd name="adj" fmla="val 3448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413748" y="3246120"/>
            <a:ext cx="768096" cy="768096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9" name="Image 2" descr="icons/grid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3600" y="3345972"/>
            <a:ext cx="568391" cy="56839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11896" y="4251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403336" y="47091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neurons connected in layers, learning together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10908792" y="6355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SHIFT IN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ML vs. Deep Learning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changes not just the model, but the whole workflow.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0956" y="260604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56716" y="2880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56716" y="3474720"/>
            <a:ext cx="457200" cy="457200"/>
          </a:xfrm>
          <a:prstGeom prst="ellipse">
            <a:avLst/>
          </a:prstGeom>
          <a:solidFill>
            <a:srgbClr val="182253"/>
          </a:solidFill>
          <a:ln w="15875">
            <a:solidFill>
              <a:srgbClr val="8A93B8"/>
            </a:solidFill>
            <a:prstDash val="solid"/>
          </a:ln>
        </p:spPr>
      </p:sp>
      <p:pic>
        <p:nvPicPr>
          <p:cNvPr id="8" name="Image 0" descr="icons/x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3534156"/>
            <a:ext cx="338328" cy="33832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96796" y="34564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feature engineering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156716" y="4251960"/>
            <a:ext cx="457200" cy="457200"/>
          </a:xfrm>
          <a:prstGeom prst="ellipse">
            <a:avLst/>
          </a:prstGeom>
          <a:solidFill>
            <a:srgbClr val="182253"/>
          </a:solidFill>
          <a:ln w="15875">
            <a:solidFill>
              <a:srgbClr val="8A93B8"/>
            </a:solidFill>
            <a:prstDash val="solid"/>
          </a:ln>
        </p:spPr>
      </p:sp>
      <p:pic>
        <p:nvPicPr>
          <p:cNvPr id="11" name="Image 1" descr="icons/x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431139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96796" y="42336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plateaus with more data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1156716" y="5029200"/>
            <a:ext cx="457200" cy="457200"/>
          </a:xfrm>
          <a:prstGeom prst="ellipse">
            <a:avLst/>
          </a:prstGeom>
          <a:solidFill>
            <a:srgbClr val="182253"/>
          </a:solidFill>
          <a:ln w="15875">
            <a:solidFill>
              <a:srgbClr val="8A93B8"/>
            </a:solidFill>
            <a:prstDash val="solid"/>
          </a:ln>
        </p:spPr>
      </p:sp>
      <p:pic>
        <p:nvPicPr>
          <p:cNvPr id="14" name="Image 2" descr="icons/x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5088636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796796" y="501091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models, lighter compute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77356" y="260604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1E2A63"/>
          </a:solidFill>
          <a:ln w="15875">
            <a:solidFill>
              <a:srgbClr val="00E5C7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643116" y="2880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643116" y="3474720"/>
            <a:ext cx="457200" cy="457200"/>
          </a:xfrm>
          <a:prstGeom prst="ellipse">
            <a:avLst/>
          </a:prstGeom>
          <a:solidFill>
            <a:srgbClr val="00E5C7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9" name="Image 3" descr="icons/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3534156"/>
            <a:ext cx="338328" cy="33832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283196" y="34564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features automatically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643116" y="4251960"/>
            <a:ext cx="457200" cy="457200"/>
          </a:xfrm>
          <a:prstGeom prst="ellipse">
            <a:avLst/>
          </a:prstGeom>
          <a:solidFill>
            <a:srgbClr val="00E5C7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22" name="Image 4" descr="icons/chec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4311396"/>
            <a:ext cx="338328" cy="33832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283196" y="42336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further with more data &amp; scale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643116" y="5029200"/>
            <a:ext cx="457200" cy="457200"/>
          </a:xfrm>
          <a:prstGeom prst="ellipse">
            <a:avLst/>
          </a:prstGeom>
          <a:solidFill>
            <a:srgbClr val="00E5C7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25" name="Image 5" descr="icons/chec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2" y="5088636"/>
            <a:ext cx="338328" cy="33832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283196" y="501091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models, needs more compute</a:t>
            </a:r>
            <a:endParaRPr lang="en-US" sz="1350" dirty="0"/>
          </a:p>
        </p:txBody>
      </p:sp>
      <p:sp>
        <p:nvSpPr>
          <p:cNvPr id="27" name="Text 19"/>
          <p:cNvSpPr txBox="1"/>
          <p:nvPr/>
        </p:nvSpPr>
        <p:spPr>
          <a:xfrm>
            <a:off x="10908792" y="6355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TIMING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Deep Learning, Why Now?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forces converged at the same moment to make deep learning practical.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5236" y="2743200"/>
            <a:ext cx="3291840" cy="2834640"/>
          </a:xfrm>
          <a:prstGeom prst="roundRect">
            <a:avLst>
              <a:gd name="adj" fmla="val 3226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07108" y="3108960"/>
            <a:ext cx="768096" cy="768096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7" name="Image 0" descr="icons/database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6960" y="3208812"/>
            <a:ext cx="568391" cy="56839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28116" y="4160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Explosion of Data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1019556" y="4617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datasets became available to learn from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48556" y="2743200"/>
            <a:ext cx="3291840" cy="2834640"/>
          </a:xfrm>
          <a:prstGeom prst="roundRect">
            <a:avLst>
              <a:gd name="adj" fmla="val 3226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10428" y="3108960"/>
            <a:ext cx="768096" cy="768096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2" name="Image 1" descr="icons/cpu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80" y="3208812"/>
            <a:ext cx="568391" cy="56839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31436" y="4160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Leap in Compute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4722876" y="4617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made large-scale training fast and affordable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51876" y="2743200"/>
            <a:ext cx="3291840" cy="2834640"/>
          </a:xfrm>
          <a:prstGeom prst="roundRect">
            <a:avLst>
              <a:gd name="adj" fmla="val 3226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413748" y="3108960"/>
            <a:ext cx="768096" cy="768096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7" name="Image 2" descr="icons/activity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3600" y="3208812"/>
            <a:ext cx="568391" cy="56839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34756" y="4160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Algorithms</a:t>
            </a:r>
            <a:endParaRPr lang="en-US" sz="1550" dirty="0"/>
          </a:p>
        </p:txBody>
      </p:sp>
      <p:sp>
        <p:nvSpPr>
          <p:cNvPr id="19" name="Text 14"/>
          <p:cNvSpPr txBox="1"/>
          <p:nvPr/>
        </p:nvSpPr>
        <p:spPr>
          <a:xfrm>
            <a:off x="8426196" y="4617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architectures and training tricks unlocked deeper networks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10908792" y="6355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SNEAK PEEK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a Neural Network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forward through layers of connected nodes to produce a prediction.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3273552"/>
            <a:ext cx="3331464" cy="-103632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3273552"/>
            <a:ext cx="3331464" cy="414528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3273552"/>
            <a:ext cx="3331464" cy="932688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3273552"/>
            <a:ext cx="3331464" cy="1450848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273552"/>
            <a:ext cx="3331464" cy="1969008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895344"/>
            <a:ext cx="3331464" cy="-725424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895344"/>
            <a:ext cx="3331464" cy="-207264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3895344"/>
            <a:ext cx="3331464" cy="310896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3895344"/>
            <a:ext cx="3331464" cy="829056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895344"/>
            <a:ext cx="3331464" cy="1347216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4517136"/>
            <a:ext cx="3331464" cy="-1347216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4517136"/>
            <a:ext cx="3331464" cy="-829056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517136"/>
            <a:ext cx="3331464" cy="-310896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4517136"/>
            <a:ext cx="3331464" cy="207264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4517136"/>
            <a:ext cx="3331464" cy="725424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5138928"/>
            <a:ext cx="3331464" cy="-1969008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5138928"/>
            <a:ext cx="3331464" cy="-1450848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5138928"/>
            <a:ext cx="3331464" cy="-932688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5138928"/>
            <a:ext cx="3331464" cy="-414528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" y="5138928"/>
            <a:ext cx="3331464" cy="103632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28744" y="3169920"/>
            <a:ext cx="3331464" cy="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28744" y="3169920"/>
            <a:ext cx="3331464" cy="51816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28744" y="3169920"/>
            <a:ext cx="3331464" cy="103632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28744" y="3169920"/>
            <a:ext cx="3331464" cy="155448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28744" y="3169920"/>
            <a:ext cx="3331464" cy="207264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28744" y="3688080"/>
            <a:ext cx="3331464" cy="-51816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28744" y="3688080"/>
            <a:ext cx="3331464" cy="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28744" y="3688080"/>
            <a:ext cx="3331464" cy="51816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28744" y="3688080"/>
            <a:ext cx="3331464" cy="103632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28744" y="3688080"/>
            <a:ext cx="3331464" cy="155448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28744" y="4206240"/>
            <a:ext cx="3331464" cy="-103632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28744" y="4206240"/>
            <a:ext cx="3331464" cy="-51816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28744" y="4206240"/>
            <a:ext cx="3331464" cy="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28744" y="4206240"/>
            <a:ext cx="3331464" cy="51816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28744" y="4206240"/>
            <a:ext cx="3331464" cy="103632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28744" y="4724400"/>
            <a:ext cx="3331464" cy="-155448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28744" y="4724400"/>
            <a:ext cx="3331464" cy="-103632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28744" y="4724400"/>
            <a:ext cx="3331464" cy="-51816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28744" y="4724400"/>
            <a:ext cx="3331464" cy="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28744" y="4724400"/>
            <a:ext cx="3331464" cy="51816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28744" y="5242560"/>
            <a:ext cx="3331464" cy="-207264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28744" y="5242560"/>
            <a:ext cx="3331464" cy="-155448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28744" y="5242560"/>
            <a:ext cx="3331464" cy="-103632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28744" y="5242560"/>
            <a:ext cx="3331464" cy="-51816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28744" y="5242560"/>
            <a:ext cx="3331464" cy="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760208" y="3169920"/>
            <a:ext cx="3331464" cy="25908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60208" y="3169920"/>
            <a:ext cx="3331464" cy="103632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60208" y="3169920"/>
            <a:ext cx="3331464" cy="181356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60208" y="3688080"/>
            <a:ext cx="3331464" cy="-25908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60208" y="3688080"/>
            <a:ext cx="3331464" cy="51816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60208" y="3688080"/>
            <a:ext cx="3331464" cy="129540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60208" y="4206240"/>
            <a:ext cx="3331464" cy="-77724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60208" y="4206240"/>
            <a:ext cx="3331464" cy="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60208" y="4206240"/>
            <a:ext cx="3331464" cy="77724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60208" y="4724400"/>
            <a:ext cx="3331464" cy="-129540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60208" y="4724400"/>
            <a:ext cx="3331464" cy="-51816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60208" y="4724400"/>
            <a:ext cx="3331464" cy="25908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60208" y="5242560"/>
            <a:ext cx="3331464" cy="-181356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60208" y="5242560"/>
            <a:ext cx="3331464" cy="-103632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60208" y="5242560"/>
            <a:ext cx="3331464" cy="-259080"/>
          </a:xfrm>
          <a:prstGeom prst="line">
            <a:avLst/>
          </a:prstGeom>
          <a:noFill/>
          <a:ln w="6350">
            <a:solidFill>
              <a:srgbClr val="7C6FFF">
                <a:alpha val="4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78408" y="3154680"/>
            <a:ext cx="237744" cy="237744"/>
          </a:xfrm>
          <a:prstGeom prst="ellipse">
            <a:avLst/>
          </a:prstGeom>
          <a:solidFill>
            <a:srgbClr val="00E5C7"/>
          </a:solidFill>
          <a:ln w="15875">
            <a:solidFill>
              <a:srgbClr val="00E5C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78408" y="3776472"/>
            <a:ext cx="237744" cy="237744"/>
          </a:xfrm>
          <a:prstGeom prst="ellipse">
            <a:avLst/>
          </a:prstGeom>
          <a:solidFill>
            <a:srgbClr val="00E5C7"/>
          </a:solidFill>
          <a:ln w="15875">
            <a:solidFill>
              <a:srgbClr val="00E5C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78408" y="4398264"/>
            <a:ext cx="237744" cy="237744"/>
          </a:xfrm>
          <a:prstGeom prst="ellipse">
            <a:avLst/>
          </a:prstGeom>
          <a:solidFill>
            <a:srgbClr val="00E5C7"/>
          </a:solidFill>
          <a:ln w="15875">
            <a:solidFill>
              <a:srgbClr val="00E5C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78408" y="5020056"/>
            <a:ext cx="237744" cy="237744"/>
          </a:xfrm>
          <a:prstGeom prst="ellipse">
            <a:avLst/>
          </a:prstGeom>
          <a:solidFill>
            <a:srgbClr val="00E5C7"/>
          </a:solidFill>
          <a:ln w="15875">
            <a:solidFill>
              <a:srgbClr val="00E5C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309872" y="3051048"/>
            <a:ext cx="237744" cy="237744"/>
          </a:xfrm>
          <a:prstGeom prst="ellipse">
            <a:avLst/>
          </a:prstGeom>
          <a:solidFill>
            <a:srgbClr val="1E2A63"/>
          </a:solidFill>
          <a:ln w="15875">
            <a:solidFill>
              <a:srgbClr val="00E5C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309872" y="3569208"/>
            <a:ext cx="237744" cy="237744"/>
          </a:xfrm>
          <a:prstGeom prst="ellipse">
            <a:avLst/>
          </a:prstGeom>
          <a:solidFill>
            <a:srgbClr val="1E2A63"/>
          </a:solidFill>
          <a:ln w="15875">
            <a:solidFill>
              <a:srgbClr val="00E5C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309872" y="4087368"/>
            <a:ext cx="237744" cy="237744"/>
          </a:xfrm>
          <a:prstGeom prst="ellipse">
            <a:avLst/>
          </a:prstGeom>
          <a:solidFill>
            <a:srgbClr val="1E2A63"/>
          </a:solidFill>
          <a:ln w="15875">
            <a:solidFill>
              <a:srgbClr val="00E5C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309872" y="4605528"/>
            <a:ext cx="237744" cy="237744"/>
          </a:xfrm>
          <a:prstGeom prst="ellipse">
            <a:avLst/>
          </a:prstGeom>
          <a:solidFill>
            <a:srgbClr val="1E2A63"/>
          </a:solidFill>
          <a:ln w="15875">
            <a:solidFill>
              <a:srgbClr val="00E5C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309872" y="5123688"/>
            <a:ext cx="237744" cy="237744"/>
          </a:xfrm>
          <a:prstGeom prst="ellipse">
            <a:avLst/>
          </a:prstGeom>
          <a:solidFill>
            <a:srgbClr val="1E2A63"/>
          </a:solidFill>
          <a:ln w="15875">
            <a:solidFill>
              <a:srgbClr val="00E5C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641336" y="3051048"/>
            <a:ext cx="237744" cy="237744"/>
          </a:xfrm>
          <a:prstGeom prst="ellipse">
            <a:avLst/>
          </a:prstGeom>
          <a:solidFill>
            <a:srgbClr val="1E2A63"/>
          </a:solidFill>
          <a:ln w="15875">
            <a:solidFill>
              <a:srgbClr val="00E5C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641336" y="3569208"/>
            <a:ext cx="237744" cy="237744"/>
          </a:xfrm>
          <a:prstGeom prst="ellipse">
            <a:avLst/>
          </a:prstGeom>
          <a:solidFill>
            <a:srgbClr val="1E2A63"/>
          </a:solidFill>
          <a:ln w="15875">
            <a:solidFill>
              <a:srgbClr val="00E5C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641336" y="4087368"/>
            <a:ext cx="237744" cy="237744"/>
          </a:xfrm>
          <a:prstGeom prst="ellipse">
            <a:avLst/>
          </a:prstGeom>
          <a:solidFill>
            <a:srgbClr val="1E2A63"/>
          </a:solidFill>
          <a:ln w="15875">
            <a:solidFill>
              <a:srgbClr val="00E5C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641336" y="4605528"/>
            <a:ext cx="237744" cy="237744"/>
          </a:xfrm>
          <a:prstGeom prst="ellipse">
            <a:avLst/>
          </a:prstGeom>
          <a:solidFill>
            <a:srgbClr val="1E2A63"/>
          </a:solidFill>
          <a:ln w="15875">
            <a:solidFill>
              <a:srgbClr val="00E5C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641336" y="5123688"/>
            <a:ext cx="237744" cy="237744"/>
          </a:xfrm>
          <a:prstGeom prst="ellipse">
            <a:avLst/>
          </a:prstGeom>
          <a:solidFill>
            <a:srgbClr val="1E2A63"/>
          </a:solidFill>
          <a:ln w="15875">
            <a:solidFill>
              <a:srgbClr val="00E5C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972800" y="3310128"/>
            <a:ext cx="237744" cy="237744"/>
          </a:xfrm>
          <a:prstGeom prst="ellipse">
            <a:avLst/>
          </a:prstGeom>
          <a:solidFill>
            <a:srgbClr val="00E5C7"/>
          </a:solidFill>
          <a:ln w="15875">
            <a:solidFill>
              <a:srgbClr val="00E5C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972800" y="4087368"/>
            <a:ext cx="237744" cy="237744"/>
          </a:xfrm>
          <a:prstGeom prst="ellipse">
            <a:avLst/>
          </a:prstGeom>
          <a:solidFill>
            <a:srgbClr val="00E5C7"/>
          </a:solidFill>
          <a:ln w="15875">
            <a:solidFill>
              <a:srgbClr val="00E5C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972800" y="4864608"/>
            <a:ext cx="237744" cy="237744"/>
          </a:xfrm>
          <a:prstGeom prst="ellipse">
            <a:avLst/>
          </a:prstGeom>
          <a:solidFill>
            <a:srgbClr val="00E5C7"/>
          </a:solidFill>
          <a:ln w="15875">
            <a:solidFill>
              <a:srgbClr val="00E5C7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274320" y="5897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150" dirty="0"/>
          </a:p>
        </p:txBody>
      </p:sp>
      <p:sp>
        <p:nvSpPr>
          <p:cNvPr id="83" name="Text 81"/>
          <p:cNvSpPr txBox="1"/>
          <p:nvPr/>
        </p:nvSpPr>
        <p:spPr>
          <a:xfrm>
            <a:off x="3605784" y="5897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150" dirty="0"/>
          </a:p>
        </p:txBody>
      </p:sp>
      <p:sp>
        <p:nvSpPr>
          <p:cNvPr id="84" name="Text 82"/>
          <p:cNvSpPr txBox="1"/>
          <p:nvPr/>
        </p:nvSpPr>
        <p:spPr>
          <a:xfrm>
            <a:off x="6937248" y="5897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150" dirty="0"/>
          </a:p>
        </p:txBody>
      </p:sp>
      <p:sp>
        <p:nvSpPr>
          <p:cNvPr id="85" name="Text 83"/>
          <p:cNvSpPr txBox="1"/>
          <p:nvPr/>
        </p:nvSpPr>
        <p:spPr>
          <a:xfrm>
            <a:off x="10268712" y="5897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150" dirty="0"/>
          </a:p>
        </p:txBody>
      </p:sp>
      <p:sp>
        <p:nvSpPr>
          <p:cNvPr id="86" name="Text 84"/>
          <p:cNvSpPr txBox="1"/>
          <p:nvPr/>
        </p:nvSpPr>
        <p:spPr>
          <a:xfrm>
            <a:off x="10908792" y="6355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Deep Learning Lives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now powers a wide range of real-world AI applications.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939796"/>
            <a:ext cx="658368" cy="658368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7" name="Image 0" descr="icons/eye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700" y="3025384"/>
            <a:ext cx="487192" cy="4871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251460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434840" y="251460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90872" y="2939796"/>
            <a:ext cx="658368" cy="658368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1" name="Image 1" descr="icons/messag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460" y="3025384"/>
            <a:ext cx="487192" cy="4871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32120" y="251460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Processing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229600" y="251460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85632" y="2939796"/>
            <a:ext cx="658368" cy="658368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5" name="Image 2" descr="icons/mic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220" y="3025384"/>
            <a:ext cx="487192" cy="48719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326880" y="251460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40080" y="425196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96112" y="4677156"/>
            <a:ext cx="658368" cy="658368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9" name="Image 3" descr="icons/thumbsup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00" y="4762744"/>
            <a:ext cx="487192" cy="48719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737360" y="425196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Systems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4434840" y="425196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690872" y="4677156"/>
            <a:ext cx="658368" cy="658368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23" name="Image 4" descr="icons/feather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460" y="4762744"/>
            <a:ext cx="487192" cy="48719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532120" y="425196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8229600" y="425196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8485632" y="4677156"/>
            <a:ext cx="658368" cy="658368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27" name="Image 5" descr="icons/truck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1220" y="4762744"/>
            <a:ext cx="487192" cy="48719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326880" y="425196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Systems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10908792" y="6355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Grows With Data &amp; Compute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trend — deep learning keeps improving as data and compute scale, where traditional ML tends to plateau.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7132320" cy="4114800"/>
          </a:xfrm>
          <a:prstGeom prst="roundRect">
            <a:avLst>
              <a:gd name="adj" fmla="val 2667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914400" y="2743200"/>
          <a:ext cx="6400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2743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COMPUTE →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549640" y="2743200"/>
            <a:ext cx="3017520" cy="1463040"/>
          </a:xfrm>
          <a:prstGeom prst="roundRect">
            <a:avLst>
              <a:gd name="adj" fmla="val 6250"/>
            </a:avLst>
          </a:prstGeom>
          <a:solidFill>
            <a:srgbClr val="1E2A63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82396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8239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climbing as you feed it more data and compute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549640" y="4572000"/>
            <a:ext cx="3017520" cy="1463040"/>
          </a:xfrm>
          <a:prstGeom prst="roundRect">
            <a:avLst>
              <a:gd name="adj" fmla="val 6250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823960" y="4754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823960" y="5120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Tends to plateau — more data stops helping much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908792" y="6355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OF THE TRADE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Deep Learning Ecosystem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frameworks dominate how deep learning gets built in practice.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613916" y="2743200"/>
            <a:ext cx="4206240" cy="2926080"/>
          </a:xfrm>
          <a:prstGeom prst="roundRect">
            <a:avLst>
              <a:gd name="adj" fmla="val 3750"/>
            </a:avLst>
          </a:prstGeom>
          <a:solidFill>
            <a:srgbClr val="141B3C"/>
          </a:solidFill>
          <a:ln w="15875">
            <a:solidFill>
              <a:srgbClr val="FF8A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59836" y="3154680"/>
            <a:ext cx="914400" cy="914400"/>
          </a:xfrm>
          <a:prstGeom prst="ellipse">
            <a:avLst/>
          </a:prstGeom>
          <a:solidFill>
            <a:srgbClr val="182253"/>
          </a:solidFill>
          <a:ln w="15875">
            <a:solidFill>
              <a:srgbClr val="FF8A5B"/>
            </a:solidFill>
            <a:prstDash val="solid"/>
          </a:ln>
        </p:spPr>
      </p:sp>
      <p:pic>
        <p:nvPicPr>
          <p:cNvPr id="7" name="Image 0" descr="icons/zap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8708" y="3273552"/>
            <a:ext cx="676656" cy="6766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96796" y="4343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PyTorch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796796" y="4846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&amp; research-friendly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68796" y="2743200"/>
            <a:ext cx="4206240" cy="2926080"/>
          </a:xfrm>
          <a:prstGeom prst="roundRect">
            <a:avLst>
              <a:gd name="adj" fmla="val 3750"/>
            </a:avLst>
          </a:prstGeom>
          <a:solidFill>
            <a:srgbClr val="141B3C"/>
          </a:solidFill>
          <a:ln w="15875">
            <a:solidFill>
              <a:srgbClr val="00E5C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14716" y="3154680"/>
            <a:ext cx="914400" cy="914400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2" name="Image 1" descr="icons/grid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588" y="3273552"/>
            <a:ext cx="676656" cy="6766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51676" y="4343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551676" y="4846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&amp; scalable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reference both by name throughout the course — no deep dive here.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0908792" y="6355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Pillars of This Course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topic we cover falls under one of these four pillars.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613916" y="3611880"/>
            <a:ext cx="658368" cy="658368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8" name="Image 0" descr="icons/grid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504" y="3697468"/>
            <a:ext cx="487192" cy="4871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4434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892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Networks, activations, forward pass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74720" y="27432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5760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448556" y="3611880"/>
            <a:ext cx="658368" cy="658368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4" name="Image 1" descr="icons/refresh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144" y="3697468"/>
            <a:ext cx="487192" cy="48719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11880" y="4434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Mechanics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657600" y="4892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Loss, backprop, optimization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309360" y="27432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9224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7283196" y="3611880"/>
            <a:ext cx="658368" cy="658368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20" name="Image 2" descr="icons/cpu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784" y="3697468"/>
            <a:ext cx="487192" cy="48719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46520" y="4434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Mastery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492240" y="4892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Init, regularization, normalization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144000" y="27432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32688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10117836" y="3611880"/>
            <a:ext cx="658368" cy="658368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26" name="Image 3" descr="icons/star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3424" y="3697468"/>
            <a:ext cx="487192" cy="48719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81160" y="4434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Concepts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9326880" y="4892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Autoencoders, generative models &amp; more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10908792" y="6355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we'll cover in this part of the course.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621792" cy="621792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6" name="Image 0" descr="icons/grid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913" y="2824033"/>
            <a:ext cx="460126" cy="46012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63040" y="2770632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737360" y="27706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 Fundamentals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3703320"/>
            <a:ext cx="621792" cy="621792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0" name="Image 1" descr="icons/activity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13" y="3784153"/>
            <a:ext cx="460126" cy="46012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463040" y="3730752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737360" y="37307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Functions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4663440"/>
            <a:ext cx="621792" cy="621792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4" name="Image 2" descr="icons/arrowrightcircle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13" y="4744273"/>
            <a:ext cx="460126" cy="46012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463040" y="4690872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1737360" y="46908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Propagation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10908792" y="6355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Mechanics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we'll cover in this part of the course.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621792" cy="621792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6" name="Image 0" descr="icons/target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913" y="2824033"/>
            <a:ext cx="460126" cy="46012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63040" y="2770632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737360" y="27706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Functions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3703320"/>
            <a:ext cx="621792" cy="621792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0" name="Image 1" descr="icons/refresh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13" y="3784153"/>
            <a:ext cx="460126" cy="46012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463040" y="3730752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737360" y="37307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Backpropagation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4663440"/>
            <a:ext cx="621792" cy="621792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4" name="Image 2" descr="icons/trending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13" y="4744273"/>
            <a:ext cx="460126" cy="46012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463040" y="4690872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1737360" y="46908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 &amp; Optimization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10908792" y="6355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Mastery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we'll cover in this part of the course.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621792" cy="621792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6" name="Image 0" descr="icons/cpu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913" y="2824033"/>
            <a:ext cx="460126" cy="46012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63040" y="2770632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737360" y="27706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Neural Networks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3703320"/>
            <a:ext cx="621792" cy="621792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0" name="Image 1" descr="icons/sliders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13" y="3784153"/>
            <a:ext cx="460126" cy="46012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463040" y="3730752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737360" y="37307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 Initialization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4663440"/>
            <a:ext cx="621792" cy="621792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4" name="Image 2" descr="icons/lock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13" y="4744273"/>
            <a:ext cx="460126" cy="46012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463040" y="4690872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1737360" y="46908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Regularization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640080" y="5623560"/>
            <a:ext cx="621792" cy="621792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8" name="Image 3" descr="icons/barchart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13" y="5704393"/>
            <a:ext cx="460126" cy="46012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463040" y="5650992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1737360" y="56509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</a:t>
            </a:r>
            <a:endParaRPr lang="en-US" sz="1550" dirty="0"/>
          </a:p>
        </p:txBody>
      </p:sp>
      <p:sp>
        <p:nvSpPr>
          <p:cNvPr id="21" name="Text 15"/>
          <p:cNvSpPr txBox="1"/>
          <p:nvPr/>
        </p:nvSpPr>
        <p:spPr>
          <a:xfrm>
            <a:off x="10908792" y="6355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Concepts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we'll cover in this part of the course.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621792" cy="621792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6" name="Image 0" descr="icons/copy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913" y="2824033"/>
            <a:ext cx="460126" cy="46012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63040" y="2770632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737360" y="27706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Autoencoders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3703320"/>
            <a:ext cx="621792" cy="621792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0" name="Image 1" descr="icons/imag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13" y="3784153"/>
            <a:ext cx="460126" cy="46012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463040" y="3730752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737360" y="37307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Models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4663440"/>
            <a:ext cx="621792" cy="621792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4" name="Image 2" descr="icons/share2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13" y="4744273"/>
            <a:ext cx="460126" cy="46012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463040" y="4690872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1737360" y="46908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Learning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640080" y="5623560"/>
            <a:ext cx="621792" cy="621792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8" name="Image 3" descr="icons/fastforward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13" y="5704393"/>
            <a:ext cx="460126" cy="46012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463040" y="5650992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1737360" y="56509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 Deep Learning</a:t>
            </a:r>
            <a:endParaRPr lang="en-US" sz="1550" dirty="0"/>
          </a:p>
        </p:txBody>
      </p:sp>
      <p:sp>
        <p:nvSpPr>
          <p:cNvPr id="21" name="Text 15"/>
          <p:cNvSpPr txBox="1"/>
          <p:nvPr/>
        </p:nvSpPr>
        <p:spPr>
          <a:xfrm>
            <a:off x="10908792" y="6355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Fourteen building blocks that take us from first principles to advanced techniques.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84048" cy="384048"/>
          </a:xfrm>
          <a:prstGeom prst="ellipse">
            <a:avLst/>
          </a:prstGeom>
          <a:solidFill>
            <a:srgbClr val="182253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42316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Fundamentals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384048" cy="384048"/>
          </a:xfrm>
          <a:prstGeom prst="ellipse">
            <a:avLst/>
          </a:prstGeom>
          <a:solidFill>
            <a:srgbClr val="182253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97180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384048" cy="384048"/>
          </a:xfrm>
          <a:prstGeom prst="ellipse">
            <a:avLst/>
          </a:prstGeom>
          <a:solidFill>
            <a:srgbClr val="182253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352044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Propagation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384048" cy="384048"/>
          </a:xfrm>
          <a:prstGeom prst="ellipse">
            <a:avLst/>
          </a:prstGeom>
          <a:solidFill>
            <a:srgbClr val="182253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40690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663440"/>
            <a:ext cx="384048" cy="384048"/>
          </a:xfrm>
          <a:prstGeom prst="ellipse">
            <a:avLst/>
          </a:prstGeom>
          <a:solidFill>
            <a:srgbClr val="182253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61772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384048" cy="384048"/>
          </a:xfrm>
          <a:prstGeom prst="ellipse">
            <a:avLst/>
          </a:prstGeom>
          <a:solidFill>
            <a:srgbClr val="182253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516636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&amp; Optimization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760720"/>
            <a:ext cx="384048" cy="384048"/>
          </a:xfrm>
          <a:prstGeom prst="ellipse">
            <a:avLst/>
          </a:prstGeom>
          <a:solidFill>
            <a:srgbClr val="182253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70432" y="571500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Neural Networks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37960" y="2468880"/>
            <a:ext cx="384048" cy="384048"/>
          </a:xfrm>
          <a:prstGeom prst="ellipse">
            <a:avLst/>
          </a:prstGeom>
          <a:solidFill>
            <a:srgbClr val="182253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068312" y="242316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Initialization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37960" y="3017520"/>
            <a:ext cx="384048" cy="384048"/>
          </a:xfrm>
          <a:prstGeom prst="ellipse">
            <a:avLst/>
          </a:prstGeom>
          <a:solidFill>
            <a:srgbClr val="182253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379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068312" y="297180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37960" y="3566160"/>
            <a:ext cx="384048" cy="384048"/>
          </a:xfrm>
          <a:prstGeom prst="ellipse">
            <a:avLst/>
          </a:prstGeom>
          <a:solidFill>
            <a:srgbClr val="182253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3796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068312" y="352044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37960" y="4114800"/>
            <a:ext cx="384048" cy="384048"/>
          </a:xfrm>
          <a:prstGeom prst="ellipse">
            <a:avLst/>
          </a:prstGeom>
          <a:solidFill>
            <a:srgbClr val="182253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3796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068312" y="40690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537960" y="4663440"/>
            <a:ext cx="384048" cy="384048"/>
          </a:xfrm>
          <a:prstGeom prst="ellipse">
            <a:avLst/>
          </a:prstGeom>
          <a:solidFill>
            <a:srgbClr val="182253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3796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068312" y="461772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537960" y="5212080"/>
            <a:ext cx="384048" cy="384048"/>
          </a:xfrm>
          <a:prstGeom prst="ellipse">
            <a:avLst/>
          </a:prstGeom>
          <a:solidFill>
            <a:srgbClr val="182253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3796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068312" y="516636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537960" y="5760720"/>
            <a:ext cx="384048" cy="384048"/>
          </a:xfrm>
          <a:prstGeom prst="ellipse">
            <a:avLst/>
          </a:prstGeom>
          <a:solidFill>
            <a:srgbClr val="182253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53796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068312" y="571500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Deep Learning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10908792" y="6355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AHEAD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Journey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topics build on each other in a clear, linear progression.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162556" y="2286000"/>
            <a:ext cx="7863840" cy="621792"/>
          </a:xfrm>
          <a:prstGeom prst="roundRect">
            <a:avLst>
              <a:gd name="adj" fmla="val 13235"/>
            </a:avLst>
          </a:prstGeom>
          <a:solidFill>
            <a:srgbClr val="141B3C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1428" y="2350008"/>
            <a:ext cx="493776" cy="493776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7" name="Image 0" descr="icons/grid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5619" y="2414199"/>
            <a:ext cx="365394" cy="36539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939796" y="2286000"/>
            <a:ext cx="6903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637276" y="29077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62556" y="3090672"/>
            <a:ext cx="7863840" cy="621792"/>
          </a:xfrm>
          <a:prstGeom prst="roundRect">
            <a:avLst>
              <a:gd name="adj" fmla="val 13235"/>
            </a:avLst>
          </a:prstGeom>
          <a:solidFill>
            <a:srgbClr val="141B3C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81428" y="3154680"/>
            <a:ext cx="493776" cy="493776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2" name="Image 1" descr="icons/refresh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619" y="3218871"/>
            <a:ext cx="365394" cy="36539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39796" y="3090672"/>
            <a:ext cx="6903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&amp; Backpropagation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637276" y="37124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162556" y="3895344"/>
            <a:ext cx="7863840" cy="621792"/>
          </a:xfrm>
          <a:prstGeom prst="roundRect">
            <a:avLst>
              <a:gd name="adj" fmla="val 13235"/>
            </a:avLst>
          </a:prstGeom>
          <a:solidFill>
            <a:srgbClr val="141B3C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281428" y="3959352"/>
            <a:ext cx="493776" cy="493776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7" name="Image 2" descr="icons/trending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619" y="4023543"/>
            <a:ext cx="365394" cy="36539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939796" y="3895344"/>
            <a:ext cx="6903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637276" y="45171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2162556" y="4700016"/>
            <a:ext cx="7863840" cy="621792"/>
          </a:xfrm>
          <a:prstGeom prst="roundRect">
            <a:avLst>
              <a:gd name="adj" fmla="val 13235"/>
            </a:avLst>
          </a:prstGeom>
          <a:solidFill>
            <a:srgbClr val="141B3C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281428" y="4764024"/>
            <a:ext cx="493776" cy="493776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22" name="Image 3" descr="icons/shield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5619" y="4828215"/>
            <a:ext cx="365394" cy="36539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2939796" y="4700016"/>
            <a:ext cx="6903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Regularization &amp; Normalization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637276" y="5321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2162556" y="5504688"/>
            <a:ext cx="7863840" cy="621792"/>
          </a:xfrm>
          <a:prstGeom prst="roundRect">
            <a:avLst>
              <a:gd name="adj" fmla="val 13235"/>
            </a:avLst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281428" y="5568696"/>
            <a:ext cx="493776" cy="493776"/>
          </a:xfrm>
          <a:prstGeom prst="ellipse">
            <a:avLst/>
          </a:prstGeom>
          <a:solidFill>
            <a:srgbClr val="0A0F2C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27" name="Image 4" descr="icons/star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5619" y="5632887"/>
            <a:ext cx="365394" cy="36539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2939796" y="5504688"/>
            <a:ext cx="6903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Deep Learning Concepts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10908792" y="6355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THIS COURSE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After?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fundamentals form the foundation for everything that follows.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6656" y="3017520"/>
            <a:ext cx="2331720" cy="2377440"/>
          </a:xfrm>
          <a:prstGeom prst="roundRect">
            <a:avLst>
              <a:gd name="adj" fmla="val 3922"/>
            </a:avLst>
          </a:prstGeom>
          <a:solidFill>
            <a:srgbClr val="00E5C7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76756" y="3337560"/>
            <a:ext cx="731520" cy="731520"/>
          </a:xfrm>
          <a:prstGeom prst="ellipse">
            <a:avLst/>
          </a:prstGeom>
          <a:solidFill>
            <a:srgbClr val="0A0F2C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7" name="Image 0" descr="icons/cpu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1854" y="3432658"/>
            <a:ext cx="541325" cy="5413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68096" y="42519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A0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A0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008376" y="3931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511296" y="3017520"/>
            <a:ext cx="2331720" cy="2377440"/>
          </a:xfrm>
          <a:prstGeom prst="roundRect">
            <a:avLst>
              <a:gd name="adj" fmla="val 3922"/>
            </a:avLst>
          </a:prstGeom>
          <a:solidFill>
            <a:srgbClr val="141B3C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11396" y="3337560"/>
            <a:ext cx="731520" cy="731520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2" name="Image 1" descr="icons/ey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494" y="343265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02736" y="42519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843016" y="3931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345936" y="3017520"/>
            <a:ext cx="2331720" cy="2377440"/>
          </a:xfrm>
          <a:prstGeom prst="roundRect">
            <a:avLst>
              <a:gd name="adj" fmla="val 3922"/>
            </a:avLst>
          </a:prstGeom>
          <a:solidFill>
            <a:srgbClr val="141B3C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46036" y="3337560"/>
            <a:ext cx="731520" cy="731520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7" name="Image 2" descr="icons/message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134" y="3432658"/>
            <a:ext cx="541325" cy="54132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37376" y="42519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677656" y="39319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9180576" y="3017520"/>
            <a:ext cx="2331720" cy="2377440"/>
          </a:xfrm>
          <a:prstGeom prst="roundRect">
            <a:avLst>
              <a:gd name="adj" fmla="val 3922"/>
            </a:avLst>
          </a:prstGeom>
          <a:solidFill>
            <a:srgbClr val="141B3C"/>
          </a:solidFill>
          <a:ln w="12700">
            <a:solidFill>
              <a:srgbClr val="00E5C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980676" y="3337560"/>
            <a:ext cx="731520" cy="731520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22" name="Image 3" descr="icons/feather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5774" y="3432658"/>
            <a:ext cx="541325" cy="54132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72016" y="42519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/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10908792" y="6355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Walk Away With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course, you'll be able to: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621792" cy="621792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6" name="Image 0" descr="icons/grid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913" y="2824033"/>
            <a:ext cx="460126" cy="46012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63040" y="2770632"/>
            <a:ext cx="8961120" cy="566928"/>
          </a:xfrm>
          <a:prstGeom prst="roundRect">
            <a:avLst>
              <a:gd name="adj" fmla="val 12903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737360" y="277063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neural networks from first principles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703320"/>
            <a:ext cx="621792" cy="621792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0" name="Image 1" descr="icons/trending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13" y="3784153"/>
            <a:ext cx="460126" cy="46012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463040" y="3730752"/>
            <a:ext cx="8961120" cy="566928"/>
          </a:xfrm>
          <a:prstGeom prst="roundRect">
            <a:avLst>
              <a:gd name="adj" fmla="val 12903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737360" y="37307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and optimize models with confidence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40080" y="4663440"/>
            <a:ext cx="621792" cy="621792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4" name="Image 2" descr="icons/lock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13" y="4744273"/>
            <a:ext cx="460126" cy="46012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463040" y="4690872"/>
            <a:ext cx="8961120" cy="566928"/>
          </a:xfrm>
          <a:prstGeom prst="roundRect">
            <a:avLst>
              <a:gd name="adj" fmla="val 12903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1737360" y="469087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regularization and normalization techniques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40080" y="5623560"/>
            <a:ext cx="621792" cy="621792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8" name="Image 3" descr="icons/code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13" y="5704393"/>
            <a:ext cx="460126" cy="46012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1463040" y="5650992"/>
            <a:ext cx="8961120" cy="566928"/>
          </a:xfrm>
          <a:prstGeom prst="roundRect">
            <a:avLst>
              <a:gd name="adj" fmla="val 12903"/>
            </a:avLst>
          </a:prstGeom>
          <a:solidFill>
            <a:srgbClr val="141B3C"/>
          </a:solidFill>
          <a:ln w="12700">
            <a:solidFill>
              <a:srgbClr val="18225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1737360" y="565099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hands-on with PyTorch and TensorFlow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0908792" y="6355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45720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" y="45720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37744" y="45720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3776" y="45720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45720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45720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61872" y="45720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17904" y="45720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-274320" y="71323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-18288" y="71323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7744" y="71323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" y="71323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71323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61872" y="71323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17904" y="71323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-274320" y="96926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-18288" y="96926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7744" y="96926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93776" y="96926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96926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96926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261872" y="96926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517904" y="96926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-274320" y="1225296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-18288" y="1225296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37744" y="1225296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93776" y="1225296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49808" y="1225296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05840" y="1225296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261872" y="1225296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517904" y="1225296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-274320" y="1481328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-18288" y="1481328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37744" y="1481328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3776" y="1481328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49808" y="1481328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05840" y="1481328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261872" y="1481328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517904" y="1481328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-274320" y="173736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-18288" y="173736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237744" y="173736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3776" y="173736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49808" y="173736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05840" y="173736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261872" y="173736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517904" y="1737360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-274320" y="199339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-18288" y="199339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237744" y="199339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493776" y="199339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49808" y="199339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005840" y="199339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261872" y="199339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517904" y="1993392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-274320" y="224942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-18288" y="224942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237744" y="224942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493776" y="224942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49808" y="224942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005840" y="224942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261872" y="224942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517904" y="2249424"/>
            <a:ext cx="32004" cy="32004"/>
          </a:xfrm>
          <a:prstGeom prst="ellipse">
            <a:avLst/>
          </a:prstGeom>
          <a:solidFill>
            <a:srgbClr val="7C6FFF">
              <a:alpha val="3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897112" y="393192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153144" y="393192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409176" y="393192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665208" y="393192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921240" y="393192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0177272" y="393192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0433304" y="393192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0689336" y="393192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897112" y="418795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153144" y="418795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409176" y="418795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9665208" y="418795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9921240" y="418795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10177272" y="418795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10433304" y="418795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10689336" y="418795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8897112" y="444398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9153144" y="444398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9409176" y="444398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9665208" y="444398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9921240" y="444398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10177272" y="444398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10433304" y="444398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10689336" y="444398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8897112" y="4700016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9153144" y="4700016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9409176" y="4700016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9665208" y="4700016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9921240" y="4700016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10177272" y="4700016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10433304" y="4700016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10689336" y="4700016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8897112" y="4956048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9153144" y="4956048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9409176" y="4956048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9665208" y="4956048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9921240" y="4956048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10177272" y="4956048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10433304" y="4956048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10689336" y="4956048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8897112" y="521208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9153144" y="521208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9409176" y="521208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9665208" y="521208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9921240" y="521208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10177272" y="521208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10433304" y="521208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10689336" y="5212080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8897112" y="546811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9153144" y="546811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9409176" y="546811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9665208" y="546811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9921240" y="546811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10177272" y="546811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10433304" y="546811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10689336" y="5468112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8897112" y="572414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9153144" y="572414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>
            <a:off x="9409176" y="572414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9665208" y="572414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9921240" y="572414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10177272" y="572414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10433304" y="572414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10689336" y="5724144"/>
            <a:ext cx="32004" cy="32004"/>
          </a:xfrm>
          <a:prstGeom prst="ellipse">
            <a:avLst/>
          </a:prstGeom>
          <a:solidFill>
            <a:srgbClr val="00E5C7">
              <a:alpha val="30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5591556" y="1554480"/>
            <a:ext cx="1005840" cy="1005840"/>
          </a:xfrm>
          <a:prstGeom prst="ellipse">
            <a:avLst/>
          </a:prstGeom>
          <a:solidFill>
            <a:srgbClr val="182253"/>
          </a:solidFill>
          <a:ln w="15875">
            <a:solidFill>
              <a:srgbClr val="00E5C7"/>
            </a:solidFill>
            <a:prstDash val="solid"/>
          </a:ln>
        </p:spPr>
      </p:sp>
      <p:pic>
        <p:nvPicPr>
          <p:cNvPr id="131" name="Image 0" descr="icons/brain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2315" y="1685239"/>
            <a:ext cx="744322" cy="744322"/>
          </a:xfrm>
          <a:prstGeom prst="rect">
            <a:avLst/>
          </a:prstGeom>
        </p:spPr>
      </p:pic>
      <p:sp>
        <p:nvSpPr>
          <p:cNvPr id="132" name="Text 129"/>
          <p:cNvSpPr txBox="1"/>
          <p:nvPr/>
        </p:nvSpPr>
        <p:spPr>
          <a:xfrm>
            <a:off x="1280160" y="2788920"/>
            <a:ext cx="9628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i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“Let’s understand how machines learn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b="1" i="1" dirty="0">
                <a:solidFill>
                  <a:srgbClr val="E8EC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representations from data.”</a:t>
            </a:r>
            <a:endParaRPr lang="en-US" sz="2800" dirty="0"/>
          </a:p>
        </p:txBody>
      </p:sp>
      <p:sp>
        <p:nvSpPr>
          <p:cNvPr id="133" name="Text 130"/>
          <p:cNvSpPr txBox="1"/>
          <p:nvPr/>
        </p:nvSpPr>
        <p:spPr>
          <a:xfrm>
            <a:off x="0" y="50292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DEEP LEARNING · MODULE 01 COMPLETE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2026-08-26T18:30:31Z</dcterms:created>
  <dcterms:modified xsi:type="dcterms:W3CDTF">2026-08-26T18:30:31Z</dcterms:modified>
</cp:coreProperties>
</file>